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457200" y="0"/>
            <a:ext cx="5029200" cy="6858000"/>
          </a:xfrm>
          <a:prstGeom prst="rect">
            <a:avLst/>
          </a:prstGeom>
          <a:solidFill>
            <a:srgbClr val="13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0" y="0"/>
            <a:ext cx="18288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1645920" cy="1280160"/>
          </a:xfrm>
          <a:prstGeom prst="rect">
            <a:avLst/>
          </a:prstGeom>
          <a:solidFill>
            <a:srgbClr val="13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58384" y="1243584"/>
            <a:ext cx="1536192" cy="1170432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3716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C9A84C"/>
                </a:solidFill>
                <a:latin typeface="Georgia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060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6D28"/>
                </a:solidFill>
                <a:latin typeface="Calibri"/>
              </a:rPr>
              <a:t>PAPARAN SISTEM INFORMASI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97180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>
                <a:solidFill>
                  <a:srgbClr val="C9A84C"/>
                </a:solidFill>
                <a:latin typeface="Georgia"/>
              </a:rPr>
              <a:t>Digital </a:t>
            </a:r>
            <a:r>
              <a:rPr sz="6400">
                <a:solidFill>
                  <a:srgbClr val="FFFFFF"/>
                </a:solidFill>
                <a:latin typeface="Georgia"/>
              </a:rPr>
              <a:t>Kamtibmas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4297680"/>
            <a:ext cx="941832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A93B2"/>
                </a:solidFill>
                <a:latin typeface="Calibri"/>
              </a:rPr>
              <a:t>Transformasi Digital Pelayanan &amp; Pengawasan Keamanan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E6F0"/>
                </a:solidFill>
                <a:latin typeface="Calibri"/>
              </a:rPr>
              <a:t>POLRESTABES PALEMBANG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1663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A84C"/>
                </a:solidFill>
                <a:latin typeface="Calibri"/>
              </a:rPr>
              <a:t>SUMATERA SELATAN  · 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05872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70464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35056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899648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64240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28832" y="5303520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0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405872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70464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35056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99648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64240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228832" y="5468112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41280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405872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570464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35056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99648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64240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28832" y="5632704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41280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05872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570464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735056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99648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064240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28832" y="5797296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41280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05872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0464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735056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99648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64240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28832" y="5961888"/>
            <a:ext cx="73152" cy="7315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Georgia"/>
              </a:rPr>
              <a:t>Mengapa Digitalisasi?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2704" y="1325880"/>
            <a:ext cx="941832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5394960" cy="347472"/>
          </a:xfrm>
          <a:prstGeom prst="rect">
            <a:avLst/>
          </a:prstGeom>
          <a:solidFill>
            <a:srgbClr val="3D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⚠  Tantangan Sebelumnya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394960" cy="347472"/>
          </a:xfrm>
          <a:prstGeom prst="rect">
            <a:avLst/>
          </a:prstGeom>
          <a:solidFill>
            <a:srgbClr val="0F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554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✔  Solusi Digital Kamtibmas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65960"/>
            <a:ext cx="5394960" cy="1005840"/>
          </a:xfrm>
          <a:prstGeom prst="rect">
            <a:avLst/>
          </a:prstGeom>
          <a:solidFill>
            <a:srgbClr val="1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965960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48840"/>
            <a:ext cx="73152" cy="7315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Pencatatan Manual &amp; Tidak Terstruktur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5000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Data laka, antrian, barang bukti, dan tahanan dicatat terpisah tanpa standar terpadu.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44952"/>
            <a:ext cx="5394960" cy="1005840"/>
          </a:xfrm>
          <a:prstGeom prst="rect">
            <a:avLst/>
          </a:prstGeom>
          <a:solidFill>
            <a:srgbClr val="1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44952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227832"/>
            <a:ext cx="73152" cy="7315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13639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Monitoring Tidak 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Pimpinan tidak dapat memantau kondisi lapangan secara langsung — patroli, antrian, kapasitas sel.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23944"/>
            <a:ext cx="5394960" cy="1005840"/>
          </a:xfrm>
          <a:prstGeom prst="rect">
            <a:avLst/>
          </a:prstGeom>
          <a:solidFill>
            <a:srgbClr val="1A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123944"/>
            <a:ext cx="5394960" cy="457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306824"/>
            <a:ext cx="73152" cy="73152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21538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Distribusi Informasi Tidak Terdokumentasi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50799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Instruksi ke satuan lapangan via WhatsApp tidak tercatat dan tidak bisa dilacak responsnya.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965960"/>
            <a:ext cx="5394960" cy="1005840"/>
          </a:xfrm>
          <a:prstGeom prst="rect">
            <a:avLst/>
          </a:prstGeom>
          <a:solidFill>
            <a:srgbClr val="0A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965960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2148840"/>
            <a:ext cx="73152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0574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Satu Platform untuk 6 Satuan Kerja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50008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Satlantas, Satnarkoba, Satreskrim, Sabhara, Tahti, dan Intelkam terintegrasi dalam satu sistem.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44952"/>
            <a:ext cx="5394960" cy="1005840"/>
          </a:xfrm>
          <a:prstGeom prst="rect">
            <a:avLst/>
          </a:prstGeom>
          <a:solidFill>
            <a:srgbClr val="0A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044952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227832"/>
            <a:ext cx="73152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136392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Dashboard Monitoring Real-Time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42900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KPI, grafik tren, peta patroli live, dan calendar heatmap aktivitas seluruh satuan.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123944"/>
            <a:ext cx="5394960" cy="1005840"/>
          </a:xfrm>
          <a:prstGeom prst="rect">
            <a:avLst/>
          </a:prstGeom>
          <a:solidFill>
            <a:srgbClr val="0A1E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123944"/>
            <a:ext cx="5394960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4306824"/>
            <a:ext cx="73152" cy="73152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15384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Distribusi Informasi via WhatsApp (Wablas)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07992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Broadcast instruksi ke grup WA tercatat otomatis; respon anggota terpantau di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PLATFORM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Georgia"/>
              </a:rPr>
              <a:t>Enam Satuan, Satu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80" y="1325880"/>
            <a:ext cx="1764792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600200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Satlantas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14884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Laporan kecelakaan digital dan manajemen antrian layanan SIM/STNK.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e-Form Laka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Antrian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Peta GPS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5" y="1600200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5" y="1600200"/>
            <a:ext cx="3749039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25695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5" y="173736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Satnarkoba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5" y="214884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Pendaftaran konseling online dan permohonan rehabilitasi narkoba digital.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5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Konseling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7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Rehabilitasi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93022" y="1600200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93022" y="160020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2" y="17099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1662" y="1737360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Satreskrim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2" y="2148840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Manajemen barang bukti perkara pidana dengan alur status terstruktur.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2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Barang Bukti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4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9 Kategori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71046" y="3154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Audit Trail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" y="3721608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721608"/>
            <a:ext cx="3749039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3831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3858768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Sabhara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270248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Manajemen patroli lapangan dengan peta GPS live dan visualisasi rute real-time.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Live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Rute GPS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Real-Time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88535" y="3721608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88535" y="3721608"/>
            <a:ext cx="3749039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5" y="3831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37175" y="3858768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Tahti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5" y="4270248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Data tahanan, kapasitas sel, buku tamu digital, dan kiosk publik mandiri.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5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Data Tahanan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7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Buku Tamu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59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Kiosk Publik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2" y="3721608"/>
            <a:ext cx="3749039" cy="196596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93022" y="3721608"/>
            <a:ext cx="3749039" cy="45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2" y="38313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41662" y="3858768"/>
            <a:ext cx="3108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Intelkam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0182" y="4270248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Distribusi instruksi via WhatsApp grup dan monitoring respon anggota lapangan.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0182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Distribusi WA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614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Webhook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71046" y="52760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SATUAN LALU LINTAS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Satlantas — Laka Lantas &amp; Antrian Layanan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560320" cy="530352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256032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234440"/>
            <a:ext cx="914400" cy="91440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3444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</a:rPr>
              <a:t>Satlantas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93B2"/>
                </a:solidFill>
                <a:latin typeface="Calibri"/>
              </a:rPr>
              <a:t>Satuan Lalu Lintas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2103120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A93B2"/>
                </a:solidFill>
                <a:latin typeface="Calibri"/>
              </a:rPr>
              <a:t>FITUR UTAMA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078992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078992"/>
            <a:ext cx="8631936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078992"/>
            <a:ext cx="36576" cy="15727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2696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216152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e-Form Laporan Kecelakaan Lalu Lintas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554480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Pelaporan laka lantas digital dari lokasi kejadian. Koordinat GPS otomatis, upload foto dokumentasi, alur status Baru → Diproses → Selesai.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GPS Koordinat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Foto Dokumentasi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Audit Trail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761488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2761488"/>
            <a:ext cx="8631936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2968" y="2761488"/>
            <a:ext cx="36576" cy="15727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9896" y="2898648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Sistem Antrian Layanan SIM/STNK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3236976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Booking antrian online. Nomor antrian otomatis per layanan per hari. Petugas memanggil, konfirmasi, atau membatalkan. Layar display publik tersedia.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Booking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Multi Loket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Display Publik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4443984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2968" y="4443984"/>
            <a:ext cx="8631936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72968" y="4443984"/>
            <a:ext cx="36576" cy="15727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4581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581144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Peta Sebaran Laka Wilayah Palembang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4919472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Peta interaktif sebaran laka per kecamatan dan kelurahan dengan drill-down. Visualisasi berbasis Leaflet.js dengan data geospasial.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989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Peta Interaktif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293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Drill-down Kecamatan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SATUAN NARKOBA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Satnarkoba — Konseling &amp; Rehabilitasi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560320" cy="530352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256032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234440"/>
            <a:ext cx="914400" cy="91440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3444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</a:rPr>
              <a:t>Satnarkoba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93B2"/>
                </a:solidFill>
                <a:latin typeface="Calibri"/>
              </a:rPr>
              <a:t>Satuan Narkoba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2103120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0B981"/>
                </a:solidFill>
                <a:latin typeface="Georg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A93B2"/>
                </a:solidFill>
                <a:latin typeface="Calibri"/>
              </a:rPr>
              <a:t>KATEGORI MASALAH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078992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078992"/>
            <a:ext cx="8631936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078992"/>
            <a:ext cx="36576" cy="15727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2696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216152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Konseling Online Narkoba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554480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Pendaftaran konseling narkoba secara digital. Pemohon mengisi data diri, jenis masalah (6 kategori), dan jadwal yang diinginkan.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6 Kategori Masalah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Jadwal Online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Notifikasi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761488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2761488"/>
            <a:ext cx="8631936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2968" y="2761488"/>
            <a:ext cx="36576" cy="15727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9896" y="2898648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Permohonan Rehabilitasi Digital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3236976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Pendaftaran program rehabilitasi narkoba secara online. Petugas memproses permohonan, menjadwalkan sesi, dan memantau progress pemulihan.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Pendaftaran Online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Tracking Progress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Data Terstruktur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4443984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2968" y="4443984"/>
            <a:ext cx="8631936" cy="365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72968" y="4443984"/>
            <a:ext cx="36576" cy="15727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4581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581144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Dashboard Analitik Satnarkoba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4919472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KPI total konseling dan rehab, grafik tren bulanan, distribusi jenis konseling (donut chart), dan jadwal yang akan datang.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989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KPI Real-Time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293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Jadwal Terpadu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Grafik Tren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SATUAN RESERSE KRIMINAL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Satreskrim — Manajemen Barang Bukti Digital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560320" cy="530352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234440"/>
            <a:ext cx="914400" cy="91440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3444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</a:rPr>
              <a:t>Satreskrim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93B2"/>
                </a:solidFill>
                <a:latin typeface="Calibri"/>
              </a:rPr>
              <a:t>Reserse Kriminal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2103120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59E0B"/>
                </a:solidFill>
                <a:latin typeface="Georgia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A93B2"/>
                </a:solidFill>
                <a:latin typeface="Calibri"/>
              </a:rPr>
              <a:t>KATEGORI PERKARA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078992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078992"/>
            <a:ext cx="8631936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078992"/>
            <a:ext cx="36576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2696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216152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Pencatatan Barang Bukti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554480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Setiap barang bukti dicatat terstruktur: nomor perkara, nama pelapor, jenis perkara (9 kategori), dan daftar item barang bukti lengkap per perkara.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9 Jenis Perkara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Multi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Nomor Unik Otomatis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761488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2761488"/>
            <a:ext cx="8631936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2968" y="2761488"/>
            <a:ext cx="36576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9896" y="2898648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Alur Status &amp; Chain of Custody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3236976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Barang bukti mengikuti alur: Diterima → Disimpan → Diproses → Dikembalikan/Dimusnahkan. Setiap perubahan tercatat dengan timestamp dan identitas petugas.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Audit Trail Lengkap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Chain of Custody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2968" y="4443984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72968" y="4443984"/>
            <a:ext cx="8631936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2968" y="4443984"/>
            <a:ext cx="36576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2696" y="4581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9896" y="4581144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Dashboard Analitik Satreskrim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919472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Total perkara, sebaran jenis perkara (pie chart), tren bulanan, dan daftar barang bukti terbaru dalam satu layar dashboard.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Pie Chart Perkara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0293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Tren Bulanan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SATUAN BHABINKAMTIBMAS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Sabhara — Patroli &amp; Live Monitoring Lapangan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2560320" cy="530352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05840"/>
            <a:ext cx="2560320" cy="45720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4440" y="1234440"/>
            <a:ext cx="914400" cy="91440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234440"/>
            <a:ext cx="914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  <a:latin typeface="Calibri"/>
              </a:rPr>
              <a:t>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40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Georgia"/>
              </a:rPr>
              <a:t>Sabhara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93B2"/>
                </a:solidFill>
                <a:latin typeface="Calibri"/>
              </a:rPr>
              <a:t>Patroli &amp; Kamtibmas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2103120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818CF8"/>
                </a:solidFill>
                <a:latin typeface="Georgia"/>
              </a:rPr>
              <a:t>30s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7A93B2"/>
                </a:solidFill>
                <a:latin typeface="Calibri"/>
              </a:rPr>
              <a:t>AUTO-REFRESH 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078992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078992"/>
            <a:ext cx="8631936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72968" y="1078992"/>
            <a:ext cx="36576" cy="157276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2696" y="121615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216152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Manajemen Patroli Lapangan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1554480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Pencatatan patroli lengkap: jadwal, personel bertugas, wilayah kecamatan/desa, dan rekam titik GPS sepanjang rute. Alur: Menunggu → Berjalan → Selesai.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Personel Patroli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293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Rekam Titik GPS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6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Visualisasi Rute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2761488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2761488"/>
            <a:ext cx="8631936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72968" y="2761488"/>
            <a:ext cx="36576" cy="157276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82696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9896" y="2898648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Peta Patroli Live Real-Time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3236976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Dashboard peta live seluruh patroli yang sedang berjalan. Marker berpulse oranye menandai posisi aktif. Auto-refresh setiap 30 detik.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989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Pulsing Marker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0293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Auto-Refresh 30s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5976" y="398678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Leaflet.js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4443984"/>
            <a:ext cx="8631936" cy="1572768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72968" y="4443984"/>
            <a:ext cx="8631936" cy="36576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72968" y="4443984"/>
            <a:ext cx="36576" cy="1572768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82696" y="4581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9896" y="4581144"/>
            <a:ext cx="7991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CE6F0"/>
                </a:solidFill>
                <a:latin typeface="Calibri"/>
              </a:rPr>
              <a:t>Visualisasi Rute &amp; Titik Patroli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9896" y="4919472"/>
            <a:ext cx="799185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A93B2"/>
                </a:solidFill>
                <a:latin typeface="Calibri"/>
              </a:rPr>
              <a:t>Titik GPS ditampilkan berurutan dengan marker bernomor dan garis rute. Popup tiap titik menampilkan keterangan, waktu rekam, dan koordinat.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989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Marker Bernomor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0293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Garis Rute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56692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A93B2"/>
                </a:solidFill>
              </a:rPr>
              <a:t>Popup Detail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TAHANAN &amp; TITIPAN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FFFFFF"/>
                </a:solidFill>
                <a:latin typeface="Georgia"/>
              </a:rPr>
              <a:t>Tahti — Tahanan, Buku Tamu &amp; Kiosk Publik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43000"/>
            <a:ext cx="3767328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43000"/>
            <a:ext cx="3767328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280160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Tahanan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01368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Biodata lengkap: NIK, foto, pasal yang disangkakan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05456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Jenis perkara terklasifikasi 9 kategori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09544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Penempatan sel/kamar dengan monitoring kapasitas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13632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Alur status: Ditahan → Bebas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Aksi: Bebaskan, Tahan Kembali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21808"/>
            <a:ext cx="50292" cy="50292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Penyidik penanggungjawab tercatat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1143000"/>
            <a:ext cx="3767328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143000"/>
            <a:ext cx="3767328" cy="3657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1280160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Buku Tamu Digital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1801368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Pendataan pengunjung: keluarga, pengacara, teman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7136" y="2505456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NIK tamu wajib unik — cegah data ganda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7136" y="3209544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Setiap kunjungan tercatat: waktu masuk/keluar, keperluan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3913632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Petugas penerima tercatat otomatis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7136" y="4617720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Riwayat lengkap per tamu &amp; per tahanan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5321808"/>
            <a:ext cx="50292" cy="50292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Filter &amp; monitoring kunjungan hari ini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1143000"/>
            <a:ext cx="3767328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4464" y="1143000"/>
            <a:ext cx="3767328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1280160"/>
            <a:ext cx="30358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Kiosk Publik Mandiri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67344" y="1801368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Tablet di depan pintu Tahti — tanpa login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67344" y="2505456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Tamu mandiri mencari nama tahanan yang dikunjungi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67344" y="3209544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Input NIK: auto-isi data jika sudah pernah daftar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7344" y="3913632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Pilih hubungan kunjungan via tombol chips interaktif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67344" y="4617720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Nomor kunjungan otomatis, countdown kembali ke idle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67344" y="5321808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Tersedia di /tahti/buku-tamu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INTELIJEN KEAMANAN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Georgia"/>
              </a:rPr>
              <a:t>Intelkam — Distribusi &amp; Monitoring Informasi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43000"/>
            <a:ext cx="3767328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143000"/>
            <a:ext cx="3767328" cy="365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280160"/>
            <a:ext cx="3035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Distribusi Informasi via WhatsApp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01368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Broadcast instruksi ke grup WA terpilih sekaligus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05456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Integrasi API Wablas — paket 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09544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Format pesan otomatis: nomor, perihal, pengirim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913632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Status per grup: Pending → Terkirim → Dibaca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17720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Nomor distribusi otomatis (DIST-xxxxx)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321808"/>
            <a:ext cx="50292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Retry otomatis untuk distribusi yang gagal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1143000"/>
            <a:ext cx="3767328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143000"/>
            <a:ext cx="3767328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4336" y="1280160"/>
            <a:ext cx="3035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Monitoring Respon WA Masuk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1801368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Webhook otomatis: setiap balasan grup masuk ke sistem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7136" y="2505456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Tampil: pengirim, nama, grup, waktu, isi pesan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7136" y="3209544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6864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Preview media gambar/file langsung di form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3913632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Terhubung ke distribusi terkait secara otomatis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17136" y="4617720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6864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Filter &amp; grouping per grup WhatsApp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7136" y="5321808"/>
            <a:ext cx="50292" cy="5029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26864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Calendar heatmap aktivitas respon 1 tahun penuh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143000"/>
            <a:ext cx="3767328" cy="52120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4" y="1143000"/>
            <a:ext cx="3767328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4464" y="1143000"/>
            <a:ext cx="3767328" cy="365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67344" y="12527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24544" y="1280160"/>
            <a:ext cx="3035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 Analitik Intelkam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67344" y="1801368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173736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KPI: distribusi bulan ini, terkirim, respon hari ini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67344" y="2505456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244144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Tren distribusi 6 bulan terakhir — bar chart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67344" y="3209544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31455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Sebaran respon per grup WA — donut chart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7344" y="3913632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38496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Calendar heatmap respon WA 1 tahun berjalan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67344" y="4617720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77072" y="45537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Tabel 5 distribusi &amp; 5 respon terbaru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67344" y="5321808"/>
            <a:ext cx="50292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77072" y="525780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3B2"/>
                </a:solidFill>
                <a:latin typeface="Calibri"/>
              </a:rPr>
              <a:t>Akses langsung ke data detail dengan satu klik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MONITORING TERPADU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Georgia"/>
              </a:rPr>
              <a:t>Dashboard — Satu Layar untuk Semua Satuan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48640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1920240" cy="5440680"/>
          </a:xfrm>
          <a:prstGeom prst="rect">
            <a:avLst/>
          </a:prstGeom>
          <a:solidFill>
            <a:srgbClr val="060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25272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6D28"/>
                </a:solidFill>
                <a:latin typeface="Calibri"/>
              </a:rPr>
              <a:t>▪ DKM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" y="1618488"/>
            <a:ext cx="1773936" cy="347472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1746504"/>
            <a:ext cx="91440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6420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Satlantas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2185416"/>
            <a:ext cx="91440" cy="91440"/>
          </a:xfrm>
          <a:prstGeom prst="rect">
            <a:avLst/>
          </a:prstGeom>
          <a:solidFill>
            <a:srgbClr val="7A9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3B2"/>
                </a:solidFill>
                <a:latin typeface="Calibri"/>
              </a:rPr>
              <a:t>Satnarkoba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624328"/>
            <a:ext cx="91440" cy="91440"/>
          </a:xfrm>
          <a:prstGeom prst="rect">
            <a:avLst/>
          </a:prstGeom>
          <a:solidFill>
            <a:srgbClr val="7A9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420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3B2"/>
                </a:solidFill>
                <a:latin typeface="Calibri"/>
              </a:rPr>
              <a:t>Satreskrim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063240"/>
            <a:ext cx="91440" cy="91440"/>
          </a:xfrm>
          <a:prstGeom prst="rect">
            <a:avLst/>
          </a:prstGeom>
          <a:solidFill>
            <a:srgbClr val="7A9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8094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3B2"/>
                </a:solidFill>
                <a:latin typeface="Calibri"/>
              </a:rPr>
              <a:t>Sabhara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3502152"/>
            <a:ext cx="91440" cy="91440"/>
          </a:xfrm>
          <a:prstGeom prst="rect">
            <a:avLst/>
          </a:prstGeom>
          <a:solidFill>
            <a:srgbClr val="7A9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1985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3B2"/>
                </a:solidFill>
                <a:latin typeface="Calibri"/>
              </a:rPr>
              <a:t>Tahti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3941064"/>
            <a:ext cx="91440" cy="91440"/>
          </a:xfrm>
          <a:prstGeom prst="rect">
            <a:avLst/>
          </a:prstGeom>
          <a:solidFill>
            <a:srgbClr val="7A9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3B2"/>
                </a:solidFill>
                <a:latin typeface="Calibri"/>
              </a:rPr>
              <a:t>Intelkam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6312" y="1143000"/>
            <a:ext cx="9308592" cy="5440680"/>
          </a:xfrm>
          <a:prstGeom prst="rect">
            <a:avLst/>
          </a:prstGeom>
          <a:solidFill>
            <a:srgbClr val="111F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192" y="1280160"/>
            <a:ext cx="9034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E6F0"/>
                </a:solidFill>
                <a:latin typeface="Calibri"/>
              </a:rPr>
              <a:t>Dashboard Satlantas — Monitoring &amp; Analitik Real-Time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96312" y="1645920"/>
            <a:ext cx="9308592" cy="10972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79192" y="1737360"/>
            <a:ext cx="2121408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79192" y="1737360"/>
            <a:ext cx="54864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1810512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258567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Antrian Hari Ini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0328" y="1737360"/>
            <a:ext cx="2121408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0328" y="173736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0056" y="1810512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38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0056" y="2258567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Antrian Selesai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41464" y="1737360"/>
            <a:ext cx="2121408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41464" y="173736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1810512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2258567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Laka Bulan Ini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1737360"/>
            <a:ext cx="2121408" cy="8229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72600" y="1737360"/>
            <a:ext cx="54864" cy="82296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82328" y="1810512"/>
            <a:ext cx="1984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82328" y="2258567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Laka Diproses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9192" y="2697480"/>
            <a:ext cx="5679887" cy="24688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2807208"/>
            <a:ext cx="54970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A93B2"/>
                </a:solidFill>
                <a:latin typeface="Calibri"/>
              </a:rPr>
              <a:t>Tren Laka Lantas — 12 Bulan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07792" y="4316882"/>
            <a:ext cx="398647" cy="71231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47587" y="3998214"/>
            <a:ext cx="398647" cy="103098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87383" y="4241901"/>
            <a:ext cx="398647" cy="78729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27179" y="3754526"/>
            <a:ext cx="398647" cy="1274673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66975" y="4166920"/>
            <a:ext cx="398647" cy="86227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06771" y="3904488"/>
            <a:ext cx="398647" cy="112471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546567" y="3567074"/>
            <a:ext cx="398647" cy="14621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6363" y="4054449"/>
            <a:ext cx="398647" cy="974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26159" y="3829507"/>
            <a:ext cx="398647" cy="11996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65955" y="4129430"/>
            <a:ext cx="398647" cy="8997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05751" y="3679545"/>
            <a:ext cx="398647" cy="134965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45547" y="3379622"/>
            <a:ext cx="398647" cy="1649577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60247" y="2697480"/>
            <a:ext cx="3080064" cy="24688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1687" y="2807208"/>
            <a:ext cx="2942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93B2"/>
                </a:solidFill>
                <a:latin typeface="Calibri"/>
              </a:rPr>
              <a:t>Distribusi per Satuan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3079" y="3200400"/>
            <a:ext cx="201168" cy="103692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99111" y="3200400"/>
            <a:ext cx="2668584" cy="1036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Satlantas 28%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643079" y="4255617"/>
            <a:ext cx="201168" cy="70363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99111" y="4255617"/>
            <a:ext cx="2668584" cy="703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Satnarkoba 19%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3079" y="4977536"/>
            <a:ext cx="201168" cy="55549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99111" y="4977536"/>
            <a:ext cx="2668584" cy="5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Satreskrim 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43079" y="5551322"/>
            <a:ext cx="201168" cy="592531"/>
          </a:xfrm>
          <a:prstGeom prst="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99111" y="5551322"/>
            <a:ext cx="2668584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Sabhara 16%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3079" y="6162141"/>
            <a:ext cx="201168" cy="44439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99111" y="6162141"/>
            <a:ext cx="2668584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Tahti 12%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43079" y="6624828"/>
            <a:ext cx="201168" cy="3703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99111" y="6624828"/>
            <a:ext cx="2668584" cy="370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A93B2"/>
                </a:solidFill>
                <a:latin typeface="Calibri"/>
              </a:rPr>
              <a:t>Intelkam 10%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79192" y="6199632"/>
            <a:ext cx="9034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93B2"/>
                </a:solidFill>
                <a:latin typeface="Calibri"/>
              </a:rPr>
              <a:t>Leaflet.js — Peta Live  ·  ECharts — Bar/Pie/Heatmap  ·  OWL — Odoo 19 Native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6858000"/>
          </a:xfrm>
          <a:prstGeom prst="rect">
            <a:avLst/>
          </a:prstGeom>
          <a:solidFill>
            <a:srgbClr val="13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18288" cy="68580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548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86868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>
                <a:solidFill>
                  <a:srgbClr val="FFFFFF"/>
                </a:solidFill>
                <a:latin typeface="Georgia"/>
              </a:rPr>
              <a:t>Digital Kamtibmas
</a:t>
            </a:r>
          </a:p>
          <a:p>
            <a:pPr algn="ctr"/>
            <a:r>
              <a:rPr sz="2000">
                <a:solidFill>
                  <a:srgbClr val="7A93B2"/>
                </a:solidFill>
                <a:latin typeface="Calibri"/>
              </a:rPr>
              <a:t>Siap Mendukung Kinerja Polrestabes Palembang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377440"/>
            <a:ext cx="2130552" cy="27432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C9A84C"/>
                </a:solidFill>
                <a:latin typeface="Georgia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93B2"/>
                </a:solidFill>
                <a:latin typeface="Calibri"/>
              </a:rPr>
              <a:t>SATUAN KERJA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743200"/>
            <a:ext cx="9144" cy="73152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C9A84C"/>
                </a:solidFill>
                <a:latin typeface="Georgia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93B2"/>
                </a:solidFill>
                <a:latin typeface="Calibri"/>
              </a:rPr>
              <a:t>FITUR UTAMA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5896" y="2743200"/>
            <a:ext cx="9144" cy="73152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C9A84C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93B2"/>
                </a:solidFill>
                <a:latin typeface="Calibri"/>
              </a:rPr>
              <a:t>PLATFORM TERPADU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14232" y="2743200"/>
            <a:ext cx="9144" cy="731520"/>
          </a:xfrm>
          <a:prstGeom prst="rect">
            <a:avLst/>
          </a:prstGeom>
          <a:solidFill>
            <a:srgbClr val="1A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26060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C9A84C"/>
                </a:solidFill>
                <a:latin typeface="Georgia"/>
              </a:rPr>
              <a:t>24/7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3566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A93B2"/>
                </a:solidFill>
                <a:latin typeface="Calibri"/>
              </a:rPr>
              <a:t>MONITORING 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11480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A93B2"/>
                </a:solidFill>
                <a:latin typeface="Georgia"/>
              </a:rPr>
              <a:t>"Satu sistem untuk seluruh satuan —
data akurat, koordinasi cepat, pelayanan prima."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21208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6A8A"/>
                </a:solidFill>
                <a:latin typeface="Calibri"/>
              </a:rPr>
              <a:t>Dikembangkan oleh CV Sel Studio  ·  selstudio.id  ·  selstudiojember@gmail.com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5577840"/>
            <a:ext cx="1828800" cy="1828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5349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F4E"/>
                </a:solidFill>
                <a:latin typeface="Georgia"/>
              </a:rPr>
              <a:t>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